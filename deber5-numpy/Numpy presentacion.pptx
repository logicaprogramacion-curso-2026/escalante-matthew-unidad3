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Childling" charset="1" panose="00000000000000000000"/>
      <p:regular r:id="rId16"/>
    </p:embeddedFont>
    <p:embeddedFont>
      <p:font typeface="Marykate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Relationship Id="rId7" Target="../media/image10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Relationship Id="rId7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52035" y="2179768"/>
            <a:ext cx="14813922" cy="631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236"/>
              </a:lnSpc>
            </a:pPr>
            <a:r>
              <a:rPr lang="en-US" sz="24170" spc="-773">
                <a:solidFill>
                  <a:srgbClr val="003578"/>
                </a:solidFill>
                <a:latin typeface="Childling"/>
                <a:ea typeface="Childling"/>
                <a:cs typeface="Childling"/>
                <a:sym typeface="Childling"/>
              </a:rPr>
              <a:t>INVESTIGACIÒN  NUMPY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13153543" y="5311766"/>
            <a:ext cx="1843201" cy="2431080"/>
          </a:xfrm>
          <a:custGeom>
            <a:avLst/>
            <a:gdLst/>
            <a:ahLst/>
            <a:cxnLst/>
            <a:rect r="r" b="b" t="t" l="l"/>
            <a:pathLst>
              <a:path h="2431080" w="1843201">
                <a:moveTo>
                  <a:pt x="0" y="0"/>
                </a:moveTo>
                <a:lnTo>
                  <a:pt x="1843201" y="0"/>
                </a:lnTo>
                <a:lnTo>
                  <a:pt x="1843201" y="2431080"/>
                </a:lnTo>
                <a:lnTo>
                  <a:pt x="0" y="24310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7910484">
            <a:off x="-495162" y="7935975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-5806484">
            <a:off x="-3174902" y="3100376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1137161">
            <a:off x="11071276" y="-3108299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4333730">
            <a:off x="15635070" y="-90841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-1883985" y="-5382413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2700000">
            <a:off x="15458638" y="459514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5752227" y="8355703"/>
            <a:ext cx="6123734" cy="12081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0"/>
              </a:lnSpc>
              <a:spcBef>
                <a:spcPct val="0"/>
              </a:spcBef>
            </a:pPr>
            <a:r>
              <a:rPr lang="en-US" sz="3457" spc="193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DE: MATTHEW ESCALANTE, DAVID ZAMBRANO, MELL ELIAS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599059" y="1894706"/>
            <a:ext cx="814462" cy="6587563"/>
          </a:xfrm>
          <a:custGeom>
            <a:avLst/>
            <a:gdLst/>
            <a:ahLst/>
            <a:cxnLst/>
            <a:rect r="r" b="b" t="t" l="l"/>
            <a:pathLst>
              <a:path h="6587563" w="814462">
                <a:moveTo>
                  <a:pt x="0" y="0"/>
                </a:moveTo>
                <a:lnTo>
                  <a:pt x="814463" y="0"/>
                </a:lnTo>
                <a:lnTo>
                  <a:pt x="814463" y="6587563"/>
                </a:lnTo>
                <a:lnTo>
                  <a:pt x="0" y="6587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919984" y="4052785"/>
            <a:ext cx="9041483" cy="37545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86"/>
              </a:lnSpc>
              <a:spcBef>
                <a:spcPct val="0"/>
              </a:spcBef>
            </a:pPr>
            <a:r>
              <a:rPr lang="en-US" sz="2561" spc="143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Nu</a:t>
            </a:r>
            <a:r>
              <a:rPr lang="en-US" sz="2561" spc="143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mpy es la librería fundamental para la computación científica y el análisis de datos cuantitativos en el ecosistema de Python.</a:t>
            </a:r>
          </a:p>
          <a:p>
            <a:pPr algn="l">
              <a:lnSpc>
                <a:spcPts val="3586"/>
              </a:lnSpc>
              <a:spcBef>
                <a:spcPct val="0"/>
              </a:spcBef>
            </a:pPr>
            <a:r>
              <a:rPr lang="en-US" sz="2561" spc="143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Su núcleo está escrito en C y Fortran, lo que le permite ejecutar operaciones matemáticas a bajo nivel con una velocidad infinitamente superior a las estructuras nativas de Python. La piedra angular de NumPy es el objeto ndarray (N-dimensional array), una estructura de datos homogénea (todos sus elementos deben ser del mismo tipo) y contigua en memoria.</a:t>
            </a:r>
          </a:p>
          <a:p>
            <a:pPr algn="l">
              <a:lnSpc>
                <a:spcPts val="1066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5258940" y="2430325"/>
            <a:ext cx="7992840" cy="167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79"/>
              </a:lnSpc>
            </a:pPr>
            <a:r>
              <a:rPr lang="en-US" sz="11608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¿QUÉ ES NUMPY?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1137161">
            <a:off x="16140723" y="2861297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33730">
            <a:off x="15530761" y="6751870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5397">
            <a:off x="15229157" y="-3879341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5400000">
            <a:off x="9841823" y="-3604950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59995">
            <a:off x="4581302" y="-2806779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7491922">
            <a:off x="-2893486" y="-49870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6784072">
            <a:off x="-2971144" y="2887494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-459995">
            <a:off x="-1425658" y="7497003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2259001">
            <a:off x="3811502" y="82973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6784072">
            <a:off x="8300863" y="9026402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-459995">
            <a:off x="10957599" y="8699697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11560" y="812905"/>
            <a:ext cx="14864881" cy="16796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sz="11608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¿PARA QUÉ SIRVE?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724204" y="6049742"/>
            <a:ext cx="5091803" cy="2697894"/>
            <a:chOff x="0" y="0"/>
            <a:chExt cx="1341051" cy="71055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341051" cy="710556"/>
            </a:xfrm>
            <a:custGeom>
              <a:avLst/>
              <a:gdLst/>
              <a:ahLst/>
              <a:cxnLst/>
              <a:rect r="r" b="b" t="t" l="l"/>
              <a:pathLst>
                <a:path h="710556" w="1341051">
                  <a:moveTo>
                    <a:pt x="77544" y="0"/>
                  </a:moveTo>
                  <a:lnTo>
                    <a:pt x="1263507" y="0"/>
                  </a:lnTo>
                  <a:cubicBezTo>
                    <a:pt x="1284073" y="0"/>
                    <a:pt x="1303797" y="8170"/>
                    <a:pt x="1318339" y="22712"/>
                  </a:cubicBezTo>
                  <a:cubicBezTo>
                    <a:pt x="1332881" y="37254"/>
                    <a:pt x="1341051" y="56978"/>
                    <a:pt x="1341051" y="77544"/>
                  </a:cubicBezTo>
                  <a:lnTo>
                    <a:pt x="1341051" y="633012"/>
                  </a:lnTo>
                  <a:cubicBezTo>
                    <a:pt x="1341051" y="675839"/>
                    <a:pt x="1306333" y="710556"/>
                    <a:pt x="1263507" y="710556"/>
                  </a:cubicBezTo>
                  <a:lnTo>
                    <a:pt x="77544" y="710556"/>
                  </a:lnTo>
                  <a:cubicBezTo>
                    <a:pt x="56978" y="710556"/>
                    <a:pt x="37254" y="702387"/>
                    <a:pt x="22712" y="687844"/>
                  </a:cubicBezTo>
                  <a:cubicBezTo>
                    <a:pt x="8170" y="673302"/>
                    <a:pt x="0" y="653578"/>
                    <a:pt x="0" y="633012"/>
                  </a:cubicBezTo>
                  <a:lnTo>
                    <a:pt x="0" y="77544"/>
                  </a:lnTo>
                  <a:cubicBezTo>
                    <a:pt x="0" y="34718"/>
                    <a:pt x="34718" y="0"/>
                    <a:pt x="77544" y="0"/>
                  </a:cubicBezTo>
                  <a:close/>
                </a:path>
              </a:pathLst>
            </a:custGeom>
            <a:solidFill>
              <a:srgbClr val="61A0E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341051" cy="748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10009830" y="7302441"/>
            <a:ext cx="4520549" cy="772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123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I</a:t>
            </a:r>
            <a:r>
              <a:rPr lang="en-US" sz="2199" spc="123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mplementación rápida de la Transformada Discreta de Fourier (np.fft).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947363" y="5973542"/>
            <a:ext cx="6645484" cy="10487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43"/>
              </a:lnSpc>
              <a:spcBef>
                <a:spcPct val="0"/>
              </a:spcBef>
            </a:pPr>
            <a:r>
              <a:rPr lang="en-US" sz="2959" spc="165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PROCESAMIENTO DE SEÑALES Y TRANSFORMADAS: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724204" y="2911760"/>
            <a:ext cx="5091803" cy="2697894"/>
            <a:chOff x="0" y="0"/>
            <a:chExt cx="1341051" cy="71055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341051" cy="710556"/>
            </a:xfrm>
            <a:custGeom>
              <a:avLst/>
              <a:gdLst/>
              <a:ahLst/>
              <a:cxnLst/>
              <a:rect r="r" b="b" t="t" l="l"/>
              <a:pathLst>
                <a:path h="710556" w="1341051">
                  <a:moveTo>
                    <a:pt x="77544" y="0"/>
                  </a:moveTo>
                  <a:lnTo>
                    <a:pt x="1263507" y="0"/>
                  </a:lnTo>
                  <a:cubicBezTo>
                    <a:pt x="1284073" y="0"/>
                    <a:pt x="1303797" y="8170"/>
                    <a:pt x="1318339" y="22712"/>
                  </a:cubicBezTo>
                  <a:cubicBezTo>
                    <a:pt x="1332881" y="37254"/>
                    <a:pt x="1341051" y="56978"/>
                    <a:pt x="1341051" y="77544"/>
                  </a:cubicBezTo>
                  <a:lnTo>
                    <a:pt x="1341051" y="633012"/>
                  </a:lnTo>
                  <a:cubicBezTo>
                    <a:pt x="1341051" y="675839"/>
                    <a:pt x="1306333" y="710556"/>
                    <a:pt x="1263507" y="710556"/>
                  </a:cubicBezTo>
                  <a:lnTo>
                    <a:pt x="77544" y="710556"/>
                  </a:lnTo>
                  <a:cubicBezTo>
                    <a:pt x="56978" y="710556"/>
                    <a:pt x="37254" y="702387"/>
                    <a:pt x="22712" y="687844"/>
                  </a:cubicBezTo>
                  <a:cubicBezTo>
                    <a:pt x="8170" y="673302"/>
                    <a:pt x="0" y="653578"/>
                    <a:pt x="0" y="633012"/>
                  </a:cubicBezTo>
                  <a:lnTo>
                    <a:pt x="0" y="77544"/>
                  </a:lnTo>
                  <a:cubicBezTo>
                    <a:pt x="0" y="34718"/>
                    <a:pt x="34718" y="0"/>
                    <a:pt x="77544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341051" cy="748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0009830" y="3837253"/>
            <a:ext cx="4520549" cy="19443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123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Cálcul</a:t>
            </a:r>
            <a:r>
              <a:rPr lang="en-US" sz="2199" spc="123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o de determinantes, autovalores/autovectores, multiplicación de matrices y resolución de sistemas de ecuaciones lineales (np.linalg).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0222000" y="3023903"/>
            <a:ext cx="4096209" cy="653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3"/>
              </a:lnSpc>
              <a:spcBef>
                <a:spcPct val="0"/>
              </a:spcBef>
            </a:pPr>
            <a:r>
              <a:rPr lang="en-US" sz="3759" spc="210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ÁLGEBRA LINEAL: 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3471994" y="6049742"/>
            <a:ext cx="5091803" cy="2697894"/>
            <a:chOff x="0" y="0"/>
            <a:chExt cx="1341051" cy="71055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341051" cy="710556"/>
            </a:xfrm>
            <a:custGeom>
              <a:avLst/>
              <a:gdLst/>
              <a:ahLst/>
              <a:cxnLst/>
              <a:rect r="r" b="b" t="t" l="l"/>
              <a:pathLst>
                <a:path h="710556" w="1341051">
                  <a:moveTo>
                    <a:pt x="77544" y="0"/>
                  </a:moveTo>
                  <a:lnTo>
                    <a:pt x="1263507" y="0"/>
                  </a:lnTo>
                  <a:cubicBezTo>
                    <a:pt x="1284073" y="0"/>
                    <a:pt x="1303797" y="8170"/>
                    <a:pt x="1318339" y="22712"/>
                  </a:cubicBezTo>
                  <a:cubicBezTo>
                    <a:pt x="1332881" y="37254"/>
                    <a:pt x="1341051" y="56978"/>
                    <a:pt x="1341051" y="77544"/>
                  </a:cubicBezTo>
                  <a:lnTo>
                    <a:pt x="1341051" y="633012"/>
                  </a:lnTo>
                  <a:cubicBezTo>
                    <a:pt x="1341051" y="675839"/>
                    <a:pt x="1306333" y="710556"/>
                    <a:pt x="1263507" y="710556"/>
                  </a:cubicBezTo>
                  <a:lnTo>
                    <a:pt x="77544" y="710556"/>
                  </a:lnTo>
                  <a:cubicBezTo>
                    <a:pt x="56978" y="710556"/>
                    <a:pt x="37254" y="702387"/>
                    <a:pt x="22712" y="687844"/>
                  </a:cubicBezTo>
                  <a:cubicBezTo>
                    <a:pt x="8170" y="673302"/>
                    <a:pt x="0" y="653578"/>
                    <a:pt x="0" y="633012"/>
                  </a:cubicBezTo>
                  <a:lnTo>
                    <a:pt x="0" y="77544"/>
                  </a:lnTo>
                  <a:cubicBezTo>
                    <a:pt x="0" y="34718"/>
                    <a:pt x="34718" y="0"/>
                    <a:pt x="77544" y="0"/>
                  </a:cubicBezTo>
                  <a:close/>
                </a:path>
              </a:pathLst>
            </a:custGeom>
            <a:solidFill>
              <a:srgbClr val="D3E7FF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341051" cy="748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3757621" y="7107179"/>
            <a:ext cx="4520549" cy="1553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123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R</a:t>
            </a:r>
            <a:r>
              <a:rPr lang="en-US" sz="2199" spc="123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eestructuración (reshape), transposición, concatenación y segmentación (slicing) de matrices 2D, 3D y N-D.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969791" y="5838254"/>
            <a:ext cx="4308379" cy="131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3"/>
              </a:lnSpc>
              <a:spcBef>
                <a:spcPct val="0"/>
              </a:spcBef>
            </a:pPr>
            <a:r>
              <a:rPr lang="en-US" sz="3759" spc="210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MANIPULACIÓN MULTIDIMENSIONAL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3471994" y="2911760"/>
            <a:ext cx="5091803" cy="2697894"/>
            <a:chOff x="0" y="0"/>
            <a:chExt cx="1341051" cy="71055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341051" cy="710556"/>
            </a:xfrm>
            <a:custGeom>
              <a:avLst/>
              <a:gdLst/>
              <a:ahLst/>
              <a:cxnLst/>
              <a:rect r="r" b="b" t="t" l="l"/>
              <a:pathLst>
                <a:path h="710556" w="1341051">
                  <a:moveTo>
                    <a:pt x="77544" y="0"/>
                  </a:moveTo>
                  <a:lnTo>
                    <a:pt x="1263507" y="0"/>
                  </a:lnTo>
                  <a:cubicBezTo>
                    <a:pt x="1284073" y="0"/>
                    <a:pt x="1303797" y="8170"/>
                    <a:pt x="1318339" y="22712"/>
                  </a:cubicBezTo>
                  <a:cubicBezTo>
                    <a:pt x="1332881" y="37254"/>
                    <a:pt x="1341051" y="56978"/>
                    <a:pt x="1341051" y="77544"/>
                  </a:cubicBezTo>
                  <a:lnTo>
                    <a:pt x="1341051" y="633012"/>
                  </a:lnTo>
                  <a:cubicBezTo>
                    <a:pt x="1341051" y="675839"/>
                    <a:pt x="1306333" y="710556"/>
                    <a:pt x="1263507" y="710556"/>
                  </a:cubicBezTo>
                  <a:lnTo>
                    <a:pt x="77544" y="710556"/>
                  </a:lnTo>
                  <a:cubicBezTo>
                    <a:pt x="56978" y="710556"/>
                    <a:pt x="37254" y="702387"/>
                    <a:pt x="22712" y="687844"/>
                  </a:cubicBezTo>
                  <a:cubicBezTo>
                    <a:pt x="8170" y="673302"/>
                    <a:pt x="0" y="653578"/>
                    <a:pt x="0" y="633012"/>
                  </a:cubicBezTo>
                  <a:lnTo>
                    <a:pt x="0" y="77544"/>
                  </a:lnTo>
                  <a:cubicBezTo>
                    <a:pt x="0" y="34718"/>
                    <a:pt x="34718" y="0"/>
                    <a:pt x="77544" y="0"/>
                  </a:cubicBezTo>
                  <a:close/>
                </a:path>
              </a:pathLst>
            </a:custGeom>
            <a:solidFill>
              <a:srgbClr val="61A0EF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38100"/>
              <a:ext cx="1341051" cy="74865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3757621" y="4152215"/>
            <a:ext cx="4520549" cy="11633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 spc="123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El</a:t>
            </a:r>
            <a:r>
              <a:rPr lang="en-US" sz="2199" spc="123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imina la necesidad de escribir bucles for en Python para realizar operaciones elemento por elemento.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25132" y="2724891"/>
            <a:ext cx="4985526" cy="131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63"/>
              </a:lnSpc>
              <a:spcBef>
                <a:spcPct val="0"/>
              </a:spcBef>
            </a:pPr>
            <a:r>
              <a:rPr lang="en-US" sz="3759" spc="210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VECTORIZACIÓN DE OPERACIONES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7491922">
            <a:off x="-3415034" y="-4294567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-10491939">
            <a:off x="15610956" y="370100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5400000">
            <a:off x="14223439" y="-2437961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5400000">
            <a:off x="-2601628" y="3763338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9" y="0"/>
                </a:lnTo>
                <a:lnTo>
                  <a:pt x="5942289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784072">
            <a:off x="-2971144" y="2887494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59995">
            <a:off x="-1975167" y="7847038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4" y="0"/>
                </a:lnTo>
                <a:lnTo>
                  <a:pt x="6007734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259001">
            <a:off x="3811502" y="82973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882317" y="331185"/>
            <a:ext cx="10523366" cy="30321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679"/>
              </a:lnSpc>
            </a:pPr>
            <a:r>
              <a:rPr lang="en-US" sz="11608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¿CÓMO SE UTILIZA E IMPLEMENTA?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7491922">
            <a:off x="13638276" y="-368727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784072">
            <a:off x="15316856" y="4078839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547935" y="4317734"/>
            <a:ext cx="11192131" cy="4025405"/>
          </a:xfrm>
          <a:custGeom>
            <a:avLst/>
            <a:gdLst/>
            <a:ahLst/>
            <a:cxnLst/>
            <a:rect r="r" b="b" t="t" l="l"/>
            <a:pathLst>
              <a:path h="4025405" w="11192131">
                <a:moveTo>
                  <a:pt x="0" y="0"/>
                </a:moveTo>
                <a:lnTo>
                  <a:pt x="11192130" y="0"/>
                </a:lnTo>
                <a:lnTo>
                  <a:pt x="11192130" y="4025405"/>
                </a:lnTo>
                <a:lnTo>
                  <a:pt x="0" y="40254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082133" y="3392115"/>
            <a:ext cx="6123734" cy="598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40"/>
              </a:lnSpc>
              <a:spcBef>
                <a:spcPct val="0"/>
              </a:spcBef>
            </a:pPr>
            <a:r>
              <a:rPr lang="en-US" sz="3457" spc="193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INSTALACIÓN E IMPORTACIÓN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6784072">
            <a:off x="-2971144" y="2887494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459995">
            <a:off x="-1975167" y="7847038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4" y="0"/>
                </a:lnTo>
                <a:lnTo>
                  <a:pt x="6007734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2259001">
            <a:off x="3811502" y="8297380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52086" y="2074744"/>
            <a:ext cx="13416782" cy="55948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615"/>
              </a:lnSpc>
            </a:pPr>
            <a:r>
              <a:rPr lang="en-US" sz="14799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EJEMPLOS DE IMPLEMENTACIÒN APLLICADA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7491922">
            <a:off x="13638276" y="-368727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6784072">
            <a:off x="15316856" y="4078839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910484">
            <a:off x="-495162" y="7935975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806484">
            <a:off x="-3174902" y="3100376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137161">
            <a:off x="11071276" y="-3108299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333730">
            <a:off x="15635070" y="-90841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-1883985" y="-5382413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15458638" y="459514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931906" y="2247963"/>
            <a:ext cx="14150849" cy="7964071"/>
          </a:xfrm>
          <a:custGeom>
            <a:avLst/>
            <a:gdLst/>
            <a:ahLst/>
            <a:cxnLst/>
            <a:rect r="r" b="b" t="t" l="l"/>
            <a:pathLst>
              <a:path h="7964071" w="14150849">
                <a:moveTo>
                  <a:pt x="0" y="0"/>
                </a:moveTo>
                <a:lnTo>
                  <a:pt x="14150849" y="0"/>
                </a:lnTo>
                <a:lnTo>
                  <a:pt x="14150849" y="7964071"/>
                </a:lnTo>
                <a:lnTo>
                  <a:pt x="0" y="7964071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656720" y="558862"/>
            <a:ext cx="6550372" cy="2045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04"/>
              </a:lnSpc>
            </a:pPr>
            <a:r>
              <a:rPr lang="en-US" sz="14135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EJEMPLO 1: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7910484">
            <a:off x="-495162" y="7935975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806484">
            <a:off x="-3174902" y="3100376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137161">
            <a:off x="11071276" y="-3108299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4333730">
            <a:off x="15635070" y="-90841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2700000">
            <a:off x="-1883985" y="-5382413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15458638" y="459514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4294374" y="2546498"/>
            <a:ext cx="13708144" cy="7705959"/>
          </a:xfrm>
          <a:custGeom>
            <a:avLst/>
            <a:gdLst/>
            <a:ahLst/>
            <a:cxnLst/>
            <a:rect r="r" b="b" t="t" l="l"/>
            <a:pathLst>
              <a:path h="7705959" w="13708144">
                <a:moveTo>
                  <a:pt x="0" y="0"/>
                </a:moveTo>
                <a:lnTo>
                  <a:pt x="13708145" y="0"/>
                </a:lnTo>
                <a:lnTo>
                  <a:pt x="13708145" y="7705960"/>
                </a:lnTo>
                <a:lnTo>
                  <a:pt x="0" y="770596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545471" y="558862"/>
            <a:ext cx="6772870" cy="20456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004"/>
              </a:lnSpc>
            </a:pPr>
            <a:r>
              <a:rPr lang="en-US" sz="14135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EJEMPLO 2: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771386" y="1744748"/>
            <a:ext cx="814462" cy="6587563"/>
          </a:xfrm>
          <a:custGeom>
            <a:avLst/>
            <a:gdLst/>
            <a:ahLst/>
            <a:cxnLst/>
            <a:rect r="r" b="b" t="t" l="l"/>
            <a:pathLst>
              <a:path h="6587563" w="814462">
                <a:moveTo>
                  <a:pt x="0" y="0"/>
                </a:moveTo>
                <a:lnTo>
                  <a:pt x="814462" y="0"/>
                </a:lnTo>
                <a:lnTo>
                  <a:pt x="814462" y="6587563"/>
                </a:lnTo>
                <a:lnTo>
                  <a:pt x="0" y="658756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742225" y="1433234"/>
            <a:ext cx="9313107" cy="7835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0"/>
              </a:lnSpc>
              <a:spcBef>
                <a:spcPct val="0"/>
              </a:spcBef>
            </a:pPr>
            <a:r>
              <a:rPr lang="en-US" sz="4493" spc="251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C</a:t>
            </a:r>
            <a:r>
              <a:rPr lang="en-US" sz="4493" spc="251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reamos una tabla con 5 estudiantes y 4 materias, agregando un par de notas con error (como un -2 o un 11) para probar el código. Primero usamos una máscara booleana que detecta automáticamente cualquier nota fuera del rango de 0 a 10. Para no arruinar el promedio, el programa calcula la media de los datos correctos y reemplaza esos errores al instante.</a:t>
            </a:r>
          </a:p>
          <a:p>
            <a:pPr algn="l">
              <a:lnSpc>
                <a:spcPts val="629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-5400000">
            <a:off x="1202500" y="4189630"/>
            <a:ext cx="7230032" cy="1907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4"/>
              </a:lnSpc>
            </a:pPr>
            <a:r>
              <a:rPr lang="en-US" sz="7309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EXPLICACIÒN BREVE DEL PRIMER EJERCICIO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142199">
            <a:off x="-503651" y="7667749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806484">
            <a:off x="-3532538" y="2869432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-1883985" y="-5382413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10368565" y="753821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923504">
            <a:off x="15830957" y="4106368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8027894">
            <a:off x="14255433" y="-1721934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4" y="0"/>
                </a:lnTo>
                <a:lnTo>
                  <a:pt x="6007734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5400000">
            <a:off x="8633883" y="-1443057"/>
            <a:ext cx="1020234" cy="8251895"/>
          </a:xfrm>
          <a:custGeom>
            <a:avLst/>
            <a:gdLst/>
            <a:ahLst/>
            <a:cxnLst/>
            <a:rect r="r" b="b" t="t" l="l"/>
            <a:pathLst>
              <a:path h="8251895" w="1020234">
                <a:moveTo>
                  <a:pt x="0" y="0"/>
                </a:moveTo>
                <a:lnTo>
                  <a:pt x="1020234" y="0"/>
                </a:lnTo>
                <a:lnTo>
                  <a:pt x="1020234" y="8251895"/>
                </a:lnTo>
                <a:lnTo>
                  <a:pt x="0" y="825189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866434" y="3091016"/>
            <a:ext cx="13556899" cy="61672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50"/>
              </a:lnSpc>
              <a:spcBef>
                <a:spcPct val="0"/>
              </a:spcBef>
            </a:pPr>
            <a:r>
              <a:rPr lang="en-US" sz="3393" spc="190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Simul</a:t>
            </a:r>
            <a:r>
              <a:rPr lang="en-US" sz="3393" spc="190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amos una imagen pequeña usando una matriz 3D, donde las primeras dos dimensiones representan los píxeles y la tercera guarda sus tres canales de color (Rojo, Verde y Azul). Para pasarla a escala de grises, aplicamos un producto punto (np.dot) que multiplica cada canal por su peso de luz real (fórmula Luma) y aplasta la matriz a solo 2D.</a:t>
            </a:r>
          </a:p>
          <a:p>
            <a:pPr algn="l">
              <a:lnSpc>
                <a:spcPts val="4750"/>
              </a:lnSpc>
              <a:spcBef>
                <a:spcPct val="0"/>
              </a:spcBef>
            </a:pPr>
            <a:r>
              <a:rPr lang="en-US" sz="3393" spc="190">
                <a:solidFill>
                  <a:srgbClr val="022033"/>
                </a:solidFill>
                <a:latin typeface="Marykate"/>
                <a:ea typeface="Marykate"/>
                <a:cs typeface="Marykate"/>
                <a:sym typeface="Marykate"/>
              </a:rPr>
              <a:t>Finalmente, hacemos un filtro de alto contraste (binarización). Si el tono de gris supera 128 se vuelve blanco absoluto (255), y si no, se vuelve negro (0). Al terminar, medimos rápido qué porcentaje de la imagen quedó totalmente blanca evaluando la matriz completa de golpe.</a:t>
            </a:r>
          </a:p>
          <a:p>
            <a:pPr algn="l">
              <a:lnSpc>
                <a:spcPts val="6290"/>
              </a:lnSpc>
              <a:spcBef>
                <a:spcPct val="0"/>
              </a:spcBef>
            </a:pPr>
          </a:p>
        </p:txBody>
      </p:sp>
      <p:sp>
        <p:nvSpPr>
          <p:cNvPr name="TextBox 4" id="4"/>
          <p:cNvSpPr txBox="true"/>
          <p:nvPr/>
        </p:nvSpPr>
        <p:spPr>
          <a:xfrm rot="0">
            <a:off x="4876669" y="435599"/>
            <a:ext cx="8534661" cy="19077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724"/>
              </a:lnSpc>
            </a:pPr>
            <a:r>
              <a:rPr lang="en-US" sz="7309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EXPLICACIÒN BREVE DEL SEGUNDO EJERCICIO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-10142199">
            <a:off x="-503651" y="7667749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8"/>
                </a:lnTo>
                <a:lnTo>
                  <a:pt x="0" y="480954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5806484">
            <a:off x="-3532538" y="2869432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9" y="0"/>
                </a:lnTo>
                <a:lnTo>
                  <a:pt x="5942289" y="4757154"/>
                </a:lnTo>
                <a:lnTo>
                  <a:pt x="0" y="475715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-1883985" y="-5382413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10368565" y="753821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2923504">
            <a:off x="15830957" y="4106368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-8027894">
            <a:off x="14255433" y="-1721934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4" y="0"/>
                </a:lnTo>
                <a:lnTo>
                  <a:pt x="6007734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155292" y="2836649"/>
            <a:ext cx="14427288" cy="50689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42"/>
              </a:lnSpc>
            </a:pPr>
            <a:r>
              <a:rPr lang="en-US" sz="19394">
                <a:solidFill>
                  <a:srgbClr val="022033"/>
                </a:solidFill>
                <a:latin typeface="Childling"/>
                <a:ea typeface="Childling"/>
                <a:cs typeface="Childling"/>
                <a:sym typeface="Childling"/>
              </a:rPr>
              <a:t>¡MUCHAS GRACIAS!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-7910484">
            <a:off x="-495162" y="7935975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5806484">
            <a:off x="-3174902" y="3100376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1137161">
            <a:off x="11071276" y="-3108299"/>
            <a:ext cx="6007735" cy="4809549"/>
          </a:xfrm>
          <a:custGeom>
            <a:avLst/>
            <a:gdLst/>
            <a:ahLst/>
            <a:cxnLst/>
            <a:rect r="r" b="b" t="t" l="l"/>
            <a:pathLst>
              <a:path h="4809549" w="6007735">
                <a:moveTo>
                  <a:pt x="0" y="0"/>
                </a:moveTo>
                <a:lnTo>
                  <a:pt x="6007735" y="0"/>
                </a:lnTo>
                <a:lnTo>
                  <a:pt x="6007735" y="4809549"/>
                </a:lnTo>
                <a:lnTo>
                  <a:pt x="0" y="480954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4333730">
            <a:off x="15635070" y="-90841"/>
            <a:ext cx="5942288" cy="4757155"/>
          </a:xfrm>
          <a:custGeom>
            <a:avLst/>
            <a:gdLst/>
            <a:ahLst/>
            <a:cxnLst/>
            <a:rect r="r" b="b" t="t" l="l"/>
            <a:pathLst>
              <a:path h="4757155" w="5942288">
                <a:moveTo>
                  <a:pt x="0" y="0"/>
                </a:moveTo>
                <a:lnTo>
                  <a:pt x="5942288" y="0"/>
                </a:lnTo>
                <a:lnTo>
                  <a:pt x="5942288" y="4757155"/>
                </a:lnTo>
                <a:lnTo>
                  <a:pt x="0" y="47571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2700000">
            <a:off x="-1883985" y="-5382413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2700000">
            <a:off x="15458638" y="4595144"/>
            <a:ext cx="7242048" cy="8229600"/>
          </a:xfrm>
          <a:custGeom>
            <a:avLst/>
            <a:gdLst/>
            <a:ahLst/>
            <a:cxnLst/>
            <a:rect r="r" b="b" t="t" l="l"/>
            <a:pathLst>
              <a:path h="8229600" w="7242048">
                <a:moveTo>
                  <a:pt x="0" y="0"/>
                </a:moveTo>
                <a:lnTo>
                  <a:pt x="7242048" y="0"/>
                </a:lnTo>
                <a:lnTo>
                  <a:pt x="7242048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DAHRPo7wVP4</dc:identifier>
  <dcterms:modified xsi:type="dcterms:W3CDTF">2011-08-01T06:04:30Z</dcterms:modified>
  <cp:revision>1</cp:revision>
  <dc:title>Presentación Proyecto Trabajo Creativa Organico Azul</dc:title>
</cp:coreProperties>
</file>