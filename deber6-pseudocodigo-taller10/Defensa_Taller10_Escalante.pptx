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MT" charset="1" panose="02030502070405020303"/>
      <p:regular r:id="rId13"/>
    </p:embeddedFont>
    <p:embeddedFont>
      <p:font typeface="Montserrat" charset="1" panose="00000500000000000000"/>
      <p:regular r:id="rId14"/>
    </p:embeddedFont>
    <p:embeddedFont>
      <p:font typeface="TT Fors Bold" charset="1" panose="020B0003030001020000"/>
      <p:regular r:id="rId15"/>
    </p:embeddedFont>
    <p:embeddedFont>
      <p:font typeface="TT Fors" charset="1" panose="020B000303000102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258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9650" y="3334771"/>
            <a:ext cx="13317786" cy="351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PSEUDOCODIGO</a:t>
            </a:r>
          </a:p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TALLER 10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55827" y="6835648"/>
            <a:ext cx="8976346" cy="34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3">
                <a:solidFill>
                  <a:srgbClr val="032334"/>
                </a:solidFill>
                <a:latin typeface="Montserrat"/>
                <a:ea typeface="Montserrat"/>
                <a:cs typeface="Montserrat"/>
                <a:sym typeface="Montserrat"/>
              </a:rPr>
              <a:t>De: Matthew Escalante</a:t>
            </a:r>
          </a:p>
        </p:txBody>
      </p:sp>
      <p:sp>
        <p:nvSpPr>
          <p:cNvPr name="TextBox 8" id="8"/>
          <p:cNvSpPr txBox="true"/>
          <p:nvPr/>
        </p:nvSpPr>
        <p:spPr>
          <a:xfrm rot="-17737">
            <a:off x="6364731" y="2647787"/>
            <a:ext cx="5434007" cy="2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Logica de Programaciòn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0366" y="2339700"/>
            <a:ext cx="6029859" cy="188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Objetivo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40833" y="4243024"/>
            <a:ext cx="8424711" cy="358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7"/>
              </a:lnSpc>
              <a:spcBef>
                <a:spcPct val="0"/>
              </a:spcBef>
            </a:pPr>
            <a:r>
              <a:rPr lang="en-US" sz="3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Rep</a:t>
            </a:r>
            <a:r>
              <a:rPr lang="en-US" sz="3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resentar mediante un algoritmo estructurado en pseudocódigo el diagrama de flujo del Proceso de Evaluación Formativa de Competencias Digitales Asistida por IA.</a:t>
            </a:r>
          </a:p>
          <a:p>
            <a:pPr algn="ctr">
              <a:lnSpc>
                <a:spcPts val="47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54744" y="2253562"/>
            <a:ext cx="12468658" cy="6792925"/>
          </a:xfrm>
          <a:custGeom>
            <a:avLst/>
            <a:gdLst/>
            <a:ahLst/>
            <a:cxnLst/>
            <a:rect r="r" b="b" t="t" l="l"/>
            <a:pathLst>
              <a:path h="6792925" w="12468658">
                <a:moveTo>
                  <a:pt x="0" y="0"/>
                </a:moveTo>
                <a:lnTo>
                  <a:pt x="12468658" y="0"/>
                </a:lnTo>
                <a:lnTo>
                  <a:pt x="12468658" y="6792925"/>
                </a:lnTo>
                <a:lnTo>
                  <a:pt x="0" y="6792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8575" y="923925"/>
            <a:ext cx="14840995" cy="132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4"/>
              </a:lnSpc>
            </a:pPr>
            <a:r>
              <a:rPr lang="en-US" sz="8057" spc="894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DIAGRAMA DE FLUJO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46008" y="610425"/>
            <a:ext cx="9350802" cy="9066150"/>
            <a:chOff x="0" y="0"/>
            <a:chExt cx="12467736" cy="120881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467736" cy="12088199"/>
              <a:chOff x="0" y="0"/>
              <a:chExt cx="5413044" cy="524826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413044" cy="5248263"/>
              </a:xfrm>
              <a:custGeom>
                <a:avLst/>
                <a:gdLst/>
                <a:ahLst/>
                <a:cxnLst/>
                <a:rect r="r" b="b" t="t" l="l"/>
                <a:pathLst>
                  <a:path h="5248263" w="5413044">
                    <a:moveTo>
                      <a:pt x="0" y="0"/>
                    </a:moveTo>
                    <a:lnTo>
                      <a:pt x="5413044" y="0"/>
                    </a:lnTo>
                    <a:lnTo>
                      <a:pt x="5413044" y="5248263"/>
                    </a:lnTo>
                    <a:lnTo>
                      <a:pt x="0" y="5248263"/>
                    </a:lnTo>
                    <a:close/>
                  </a:path>
                </a:pathLst>
              </a:custGeom>
              <a:ln w="95250" cap="sq">
                <a:solidFill>
                  <a:srgbClr val="054B81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5413044" cy="5276838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196330" y="237791"/>
              <a:ext cx="2112980" cy="2112980"/>
            </a:xfrm>
            <a:custGeom>
              <a:avLst/>
              <a:gdLst/>
              <a:ahLst/>
              <a:cxnLst/>
              <a:rect r="r" b="b" t="t" l="l"/>
              <a:pathLst>
                <a:path h="2112980" w="2112980">
                  <a:moveTo>
                    <a:pt x="0" y="0"/>
                  </a:moveTo>
                  <a:lnTo>
                    <a:pt x="2112979" y="0"/>
                  </a:lnTo>
                  <a:lnTo>
                    <a:pt x="2112979" y="2112979"/>
                  </a:lnTo>
                  <a:lnTo>
                    <a:pt x="0" y="2112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76335" y="9557480"/>
              <a:ext cx="2112980" cy="2112980"/>
            </a:xfrm>
            <a:custGeom>
              <a:avLst/>
              <a:gdLst/>
              <a:ahLst/>
              <a:cxnLst/>
              <a:rect r="r" b="b" t="t" l="l"/>
              <a:pathLst>
                <a:path h="2112980" w="2112980">
                  <a:moveTo>
                    <a:pt x="0" y="0"/>
                  </a:moveTo>
                  <a:lnTo>
                    <a:pt x="2112980" y="0"/>
                  </a:lnTo>
                  <a:lnTo>
                    <a:pt x="2112980" y="2112980"/>
                  </a:lnTo>
                  <a:lnTo>
                    <a:pt x="0" y="2112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0217797" y="9557480"/>
              <a:ext cx="2112980" cy="2112980"/>
            </a:xfrm>
            <a:custGeom>
              <a:avLst/>
              <a:gdLst/>
              <a:ahLst/>
              <a:cxnLst/>
              <a:rect r="r" b="b" t="t" l="l"/>
              <a:pathLst>
                <a:path h="2112980" w="2112980">
                  <a:moveTo>
                    <a:pt x="0" y="0"/>
                  </a:moveTo>
                  <a:lnTo>
                    <a:pt x="2112980" y="0"/>
                  </a:lnTo>
                  <a:lnTo>
                    <a:pt x="2112980" y="2112980"/>
                  </a:lnTo>
                  <a:lnTo>
                    <a:pt x="0" y="2112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10800000">
              <a:off x="10082160" y="237791"/>
              <a:ext cx="2112980" cy="2112980"/>
            </a:xfrm>
            <a:custGeom>
              <a:avLst/>
              <a:gdLst/>
              <a:ahLst/>
              <a:cxnLst/>
              <a:rect r="r" b="b" t="t" l="l"/>
              <a:pathLst>
                <a:path h="2112980" w="2112980">
                  <a:moveTo>
                    <a:pt x="0" y="0"/>
                  </a:moveTo>
                  <a:lnTo>
                    <a:pt x="2112979" y="0"/>
                  </a:lnTo>
                  <a:lnTo>
                    <a:pt x="2112979" y="2112979"/>
                  </a:lnTo>
                  <a:lnTo>
                    <a:pt x="0" y="2112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342577" y="1294281"/>
              <a:ext cx="11782583" cy="9645398"/>
              <a:chOff x="0" y="0"/>
              <a:chExt cx="1369073" cy="112074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69073" cy="1120744"/>
              </a:xfrm>
              <a:custGeom>
                <a:avLst/>
                <a:gdLst/>
                <a:ahLst/>
                <a:cxnLst/>
                <a:rect r="r" b="b" t="t" l="l"/>
                <a:pathLst>
                  <a:path h="1120744" w="1369073">
                    <a:moveTo>
                      <a:pt x="0" y="0"/>
                    </a:moveTo>
                    <a:lnTo>
                      <a:pt x="1369073" y="0"/>
                    </a:lnTo>
                    <a:lnTo>
                      <a:pt x="1369073" y="1120744"/>
                    </a:lnTo>
                    <a:lnTo>
                      <a:pt x="0" y="1120744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3354" t="0" r="-3354" b="0"/>
                </a:stretch>
              </a:blipFill>
              <a:ln w="152400" cap="sq">
                <a:solidFill>
                  <a:srgbClr val="054B81"/>
                </a:solidFill>
                <a:prstDash val="solid"/>
                <a:miter/>
              </a:ln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307920" y="2922753"/>
            <a:ext cx="8228148" cy="297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6694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Código del Algoritmo (Pseudocódigo)</a:t>
            </a:r>
          </a:p>
          <a:p>
            <a:pPr algn="l">
              <a:lnSpc>
                <a:spcPts val="73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45382" y="5324676"/>
            <a:ext cx="6983517" cy="143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  <a:spcBef>
                <a:spcPct val="0"/>
              </a:spcBef>
            </a:pPr>
            <a:r>
              <a:rPr lang="en-US" sz="272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Aqui hay una imagen del pseudocòdigo y en la siguiente diapositiva hay evidencias del pseudocòdigo ejecutandose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7645" y="1168153"/>
            <a:ext cx="8094288" cy="9006167"/>
            <a:chOff x="0" y="0"/>
            <a:chExt cx="468566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5666" cy="5213540"/>
            </a:xfrm>
            <a:custGeom>
              <a:avLst/>
              <a:gdLst/>
              <a:ahLst/>
              <a:cxnLst/>
              <a:rect r="r" b="b" t="t" l="l"/>
              <a:pathLst>
                <a:path h="5213540" w="4685666">
                  <a:moveTo>
                    <a:pt x="0" y="0"/>
                  </a:moveTo>
                  <a:lnTo>
                    <a:pt x="4685666" y="0"/>
                  </a:lnTo>
                  <a:lnTo>
                    <a:pt x="468566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8566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6061891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23031" y="2339326"/>
            <a:ext cx="6983517" cy="2692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6"/>
              </a:lnSpc>
            </a:pPr>
            <a:r>
              <a:rPr lang="en-US" sz="8880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 pasa si escribo no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6001072" y="8513458"/>
            <a:ext cx="1660862" cy="1660862"/>
          </a:xfrm>
          <a:custGeom>
            <a:avLst/>
            <a:gdLst/>
            <a:ahLst/>
            <a:cxnLst/>
            <a:rect r="r" b="b" t="t" l="l"/>
            <a:pathLst>
              <a:path h="1660862" w="1660862">
                <a:moveTo>
                  <a:pt x="0" y="0"/>
                </a:moveTo>
                <a:lnTo>
                  <a:pt x="1660862" y="0"/>
                </a:lnTo>
                <a:lnTo>
                  <a:pt x="1660862" y="1660862"/>
                </a:lnTo>
                <a:lnTo>
                  <a:pt x="0" y="1660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86695" y="8574277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9586695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5339" y="1168153"/>
            <a:ext cx="8094288" cy="9006167"/>
            <a:chOff x="0" y="0"/>
            <a:chExt cx="4685666" cy="52135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85666" cy="5213540"/>
            </a:xfrm>
            <a:custGeom>
              <a:avLst/>
              <a:gdLst/>
              <a:ahLst/>
              <a:cxnLst/>
              <a:rect r="r" b="b" t="t" l="l"/>
              <a:pathLst>
                <a:path h="5213540" w="4685666">
                  <a:moveTo>
                    <a:pt x="0" y="0"/>
                  </a:moveTo>
                  <a:lnTo>
                    <a:pt x="4685666" y="0"/>
                  </a:lnTo>
                  <a:lnTo>
                    <a:pt x="468566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68566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7189585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2" y="0"/>
                </a:lnTo>
                <a:lnTo>
                  <a:pt x="1600042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339326"/>
            <a:ext cx="6983517" cy="2692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6"/>
              </a:lnSpc>
            </a:pPr>
            <a:r>
              <a:rPr lang="en-US" sz="8880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 pasa si escribo si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5400000">
            <a:off x="7189585" y="8574277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2" y="0"/>
                </a:lnTo>
                <a:lnTo>
                  <a:pt x="1600042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4389" y="8574277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714389" y="1168153"/>
            <a:ext cx="1600043" cy="1600043"/>
          </a:xfrm>
          <a:custGeom>
            <a:avLst/>
            <a:gdLst/>
            <a:ahLst/>
            <a:cxnLst/>
            <a:rect r="r" b="b" t="t" l="l"/>
            <a:pathLst>
              <a:path h="1600043" w="1600043">
                <a:moveTo>
                  <a:pt x="0" y="0"/>
                </a:moveTo>
                <a:lnTo>
                  <a:pt x="1600043" y="0"/>
                </a:lnTo>
                <a:lnTo>
                  <a:pt x="1600043" y="1600043"/>
                </a:lnTo>
                <a:lnTo>
                  <a:pt x="0" y="16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0725" y="4785657"/>
            <a:ext cx="7205542" cy="4115537"/>
          </a:xfrm>
          <a:custGeom>
            <a:avLst/>
            <a:gdLst/>
            <a:ahLst/>
            <a:cxnLst/>
            <a:rect r="r" b="b" t="t" l="l"/>
            <a:pathLst>
              <a:path h="4115537" w="7205542">
                <a:moveTo>
                  <a:pt x="0" y="0"/>
                </a:moveTo>
                <a:lnTo>
                  <a:pt x="7205541" y="0"/>
                </a:lnTo>
                <a:lnTo>
                  <a:pt x="7205541" y="4115537"/>
                </a:lnTo>
                <a:lnTo>
                  <a:pt x="0" y="4115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85660" y="4770661"/>
            <a:ext cx="5856682" cy="4470410"/>
          </a:xfrm>
          <a:custGeom>
            <a:avLst/>
            <a:gdLst/>
            <a:ahLst/>
            <a:cxnLst/>
            <a:rect r="r" b="b" t="t" l="l"/>
            <a:pathLst>
              <a:path h="4470410" w="5856682">
                <a:moveTo>
                  <a:pt x="0" y="0"/>
                </a:moveTo>
                <a:lnTo>
                  <a:pt x="5856682" y="0"/>
                </a:lnTo>
                <a:lnTo>
                  <a:pt x="5856682" y="4470410"/>
                </a:lnTo>
                <a:lnTo>
                  <a:pt x="0" y="4470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08249" y="-95250"/>
            <a:ext cx="15651051" cy="144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6"/>
              </a:lnSpc>
            </a:pPr>
            <a:r>
              <a:rPr lang="en-US" sz="8880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Evidencia del pseudocòdigo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80052" y="2965846"/>
            <a:ext cx="12508016" cy="188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31645" y="4812695"/>
            <a:ext cx="8424711" cy="254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7"/>
              </a:lnSpc>
              <a:spcBef>
                <a:spcPct val="0"/>
              </a:spcBef>
            </a:pPr>
            <a:r>
              <a:rPr lang="en-US" sz="2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41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raducir este proceso a pseudocódigo demuestra cómo la Inteligencia Artificial no reemplaza al docente, sino que automatiza la retroalimentación repetitiva y el análisis de datos para permitir una enseñanza más personalizada y enfocada en el progreso real del estudiante.</a:t>
            </a:r>
          </a:p>
          <a:p>
            <a:pPr algn="ctr">
              <a:lnSpc>
                <a:spcPts val="33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339" y="640417"/>
            <a:ext cx="16966595" cy="9006167"/>
            <a:chOff x="0" y="0"/>
            <a:chExt cx="9821716" cy="5213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21716" cy="5213540"/>
            </a:xfrm>
            <a:custGeom>
              <a:avLst/>
              <a:gdLst/>
              <a:ahLst/>
              <a:cxnLst/>
              <a:rect r="r" b="b" t="t" l="l"/>
              <a:pathLst>
                <a:path h="5213540" w="9821716">
                  <a:moveTo>
                    <a:pt x="0" y="0"/>
                  </a:moveTo>
                  <a:lnTo>
                    <a:pt x="9821716" y="0"/>
                  </a:lnTo>
                  <a:lnTo>
                    <a:pt x="9821716" y="5213540"/>
                  </a:lnTo>
                  <a:lnTo>
                    <a:pt x="0" y="5213540"/>
                  </a:lnTo>
                  <a:close/>
                </a:path>
              </a:pathLst>
            </a:custGeom>
            <a:ln w="95250" cap="sq">
              <a:solidFill>
                <a:srgbClr val="054B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821716" cy="524211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015717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9992" y="3460705"/>
            <a:ext cx="12508016" cy="351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MUCHAS</a:t>
            </a:r>
          </a:p>
          <a:p>
            <a:pPr algn="ctr">
              <a:lnSpc>
                <a:spcPts val="12852"/>
              </a:lnSpc>
            </a:pPr>
            <a:r>
              <a:rPr lang="en-US" sz="11579">
                <a:solidFill>
                  <a:srgbClr val="03233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GRACIAS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4015717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258" y="6000366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697258" y="640417"/>
            <a:ext cx="3646217" cy="3646217"/>
          </a:xfrm>
          <a:custGeom>
            <a:avLst/>
            <a:gdLst/>
            <a:ahLst/>
            <a:cxnLst/>
            <a:rect r="r" b="b" t="t" l="l"/>
            <a:pathLst>
              <a:path h="3646217" w="3646217">
                <a:moveTo>
                  <a:pt x="0" y="0"/>
                </a:moveTo>
                <a:lnTo>
                  <a:pt x="3646217" y="0"/>
                </a:lnTo>
                <a:lnTo>
                  <a:pt x="3646217" y="3646217"/>
                </a:lnTo>
                <a:lnTo>
                  <a:pt x="0" y="3646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17737">
            <a:off x="6364731" y="2647787"/>
            <a:ext cx="5434007" cy="2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b="true" sz="181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Matthew Escalante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DAHR8LvDFA8</dc:identifier>
  <dcterms:modified xsi:type="dcterms:W3CDTF">2011-08-01T06:04:30Z</dcterms:modified>
  <cp:revision>1</cp:revision>
  <dc:title>Presentación Diapositivas Proyecto Tesis Universitaria Geométrica Azul y Blanco</dc:title>
</cp:coreProperties>
</file>